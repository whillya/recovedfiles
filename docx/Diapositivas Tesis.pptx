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9144000" cy="6858000"/>
  <p:embeddedFontLst>
    <p:embeddedFont>
      <p:font typeface="Alice Bold" panose="020B0604020202020204" charset="0"/>
      <p:regular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DM Sans" pitchFamily="2" charset="0"/>
      <p:regular r:id="rId42"/>
      <p:bold r:id="rId43"/>
      <p:italic r:id="rId44"/>
      <p:boldItalic r:id="rId45"/>
    </p:embeddedFont>
    <p:embeddedFont>
      <p:font typeface="DM Sans Bold" charset="0"/>
      <p:regular r:id="rId46"/>
    </p:embeddedFont>
    <p:embeddedFont>
      <p:font typeface="Montserrat Bold" panose="020B0604020202020204" charset="0"/>
      <p:regular r:id="rId47"/>
    </p:embeddedFont>
    <p:embeddedFont>
      <p:font typeface="Montserrat Heavy" panose="020B0604020202020204" charset="0"/>
      <p:regular r:id="rId48"/>
    </p:embeddedFont>
    <p:embeddedFont>
      <p:font typeface="Open Sans" panose="020B0606030504020204" pitchFamily="34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97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openxmlformats.org/officeDocument/2006/relationships/font" Target="fonts/font13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8361154-B608-4B9C-9B5E-4EA9D05CCF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924617-1ED7-4C77-B4A1-E79733FF3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2F61D-71CB-43D9-8DCE-CD012966C4F3}" type="datetimeFigureOut">
              <a:rPr lang="es-BO" smtClean="0"/>
              <a:t>22/6/2025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4BA001-B2EB-49E2-AC1E-48D476D13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D7AB53-98B6-411E-B2B0-F874CB51AF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9E393-373E-4A4C-8EFC-BCE78268ED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232458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3F895-9407-4D5B-BA0E-FC690D2F056E}" type="datetimeFigureOut">
              <a:rPr lang="es-BO" smtClean="0"/>
              <a:t>22/6/2025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29C9C-483F-47A8-9C0F-A57E3046C0F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941249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42B0-5E12-4C5B-BA04-589E403320FC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094E-6D74-422F-868C-2B7ADE9D1BBB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68645-1F60-4ABA-A5F4-E2709D56EA83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245B-9556-434C-8FBC-3AF67F190AD8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ED21-AEFC-43BC-B008-94B55378FE50}" type="datetime1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7CADF-2BBF-47D5-B5DC-AE9C7FCB5D70}" type="datetime1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B513-F9ED-4186-BF25-9FB69074F9B8}" type="datetime1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9D074-4393-4DBC-8ED3-27CB0C904367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592E-CF06-4FC1-A847-22C6477680F4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290A1-7529-40C1-A9EC-2BBF159F25D2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EC006-76A8-4160-ABE0-053F27D52B76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40127-64D9-4A4B-958C-2740A802E7C0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hyperlink" Target="https://www.google.com/imgres?q=tienda%20peque%C3%B1a&amp;imgurl=https%3A%2F%2Fcomunitaria.com%2Fwp-content%2Fuploads%2F2024%2F04%2FImagenes-para-articulos-9.png&amp;imgrefurl=https%3A%2F%2Fcomunitaria.com%2Fque-pasaria-si-desaparecen-las-pequenas-tiendas-del-barrio-en-el-que-vives%2F&amp;docid=n9t_PIUc9C6Q1M&amp;tbnid=2ZZncESnjF13HM&amp;vet=12ahUKEwjK2_GOhIGOAxWrO7kGHT2RDekQM3oECG4QAA..i&amp;w=1350&amp;h=650&amp;hcb=2&amp;ved=2ahUKEwjK2_GOhIGOAxWrO7kGHT2RDekQM3oECG4QAA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svg"/><Relationship Id="rId7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9.png"/><Relationship Id="rId18" Type="http://schemas.openxmlformats.org/officeDocument/2006/relationships/oleObject" Target="../embeddings/oleObject1.bin"/><Relationship Id="rId3" Type="http://schemas.openxmlformats.org/officeDocument/2006/relationships/image" Target="../media/image31.png"/><Relationship Id="rId21" Type="http://schemas.openxmlformats.org/officeDocument/2006/relationships/image" Target="../media/image29.svg"/><Relationship Id="rId7" Type="http://schemas.openxmlformats.org/officeDocument/2006/relationships/image" Target="../media/image35.sv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png"/><Relationship Id="rId20" Type="http://schemas.openxmlformats.org/officeDocument/2006/relationships/image" Target="../media/image28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30.png"/><Relationship Id="rId4" Type="http://schemas.openxmlformats.org/officeDocument/2006/relationships/image" Target="../media/image32.svg"/><Relationship Id="rId9" Type="http://schemas.openxmlformats.org/officeDocument/2006/relationships/image" Target="../media/image10.svg"/><Relationship Id="rId1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5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7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3708" y="-1782874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044163" y="1782874"/>
            <a:ext cx="4215137" cy="8134474"/>
          </a:xfrm>
          <a:custGeom>
            <a:avLst/>
            <a:gdLst/>
            <a:ahLst/>
            <a:cxnLst/>
            <a:rect l="l" t="t" r="r" b="b"/>
            <a:pathLst>
              <a:path w="4215137" h="8134474">
                <a:moveTo>
                  <a:pt x="0" y="0"/>
                </a:moveTo>
                <a:lnTo>
                  <a:pt x="4215137" y="0"/>
                </a:lnTo>
                <a:lnTo>
                  <a:pt x="4215137" y="8134474"/>
                </a:lnTo>
                <a:lnTo>
                  <a:pt x="0" y="8134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8978" y="178819"/>
            <a:ext cx="719444" cy="1453422"/>
          </a:xfrm>
          <a:custGeom>
            <a:avLst/>
            <a:gdLst/>
            <a:ahLst/>
            <a:cxnLst/>
            <a:rect l="l" t="t" r="r" b="b"/>
            <a:pathLst>
              <a:path w="719444" h="1453422">
                <a:moveTo>
                  <a:pt x="0" y="0"/>
                </a:moveTo>
                <a:lnTo>
                  <a:pt x="719444" y="0"/>
                </a:lnTo>
                <a:lnTo>
                  <a:pt x="719444" y="1453423"/>
                </a:lnTo>
                <a:lnTo>
                  <a:pt x="0" y="1453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77245" y="189250"/>
            <a:ext cx="7016167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MAYOR DE SAN ANDRES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7245" y="687090"/>
            <a:ext cx="779252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 spc="5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FACULTAD DE CIENCIAS PURAS Y NATURALES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201691"/>
            <a:ext cx="10965477" cy="2830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44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DIGITALIZACIÓN INTELIGENTE DE RECIBOS MANUSCRITOS PARA PEQUEÑOS COMERCIANTES MEDIANTE UNA APLICACIÓN MÓVIL BASADA EN DEEP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377924"/>
            <a:ext cx="9588986" cy="53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21"/>
              </a:lnSpc>
            </a:pPr>
            <a:r>
              <a:rPr lang="en-US" sz="3229" b="1" spc="77">
                <a:solidFill>
                  <a:srgbClr val="0C1D4B"/>
                </a:solidFill>
                <a:latin typeface="DM Sans Bold"/>
                <a:ea typeface="DM Sans Bold"/>
                <a:cs typeface="DM Sans Bold"/>
                <a:sym typeface="DM Sans Bold"/>
              </a:rPr>
              <a:t>UNIV.: WHILLY EDGAR AMORAGA MAMANI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423" y="2449216"/>
            <a:ext cx="657380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spc="71">
                <a:solidFill>
                  <a:srgbClr val="0C1D4B"/>
                </a:solidFill>
                <a:latin typeface="DM Sans Bold"/>
                <a:ea typeface="DM Sans Bold"/>
                <a:cs typeface="DM Sans Bold"/>
                <a:sym typeface="DM Sans Bold"/>
              </a:rPr>
              <a:t>DEFENSA DE TESIS DE GRADO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889405"/>
            <a:ext cx="10486466" cy="53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21"/>
              </a:lnSpc>
            </a:pPr>
            <a:r>
              <a:rPr lang="en-US" sz="3229" b="1" spc="77">
                <a:solidFill>
                  <a:srgbClr val="0C1D4B"/>
                </a:solidFill>
                <a:latin typeface="DM Sans Bold"/>
                <a:ea typeface="DM Sans Bold"/>
                <a:cs typeface="DM Sans Bold"/>
                <a:sym typeface="DM Sans Bold"/>
              </a:rPr>
              <a:t>TUTOR: DR. JUAN MARCOS MIRANDA NINA PH.D.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7245" y="1066821"/>
            <a:ext cx="7016167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CARERRA DE INFORMATICA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41362" y="8753474"/>
            <a:ext cx="657380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 spc="71">
                <a:solidFill>
                  <a:srgbClr val="0C1D4B"/>
                </a:solidFill>
                <a:latin typeface="DM Sans Bold"/>
                <a:ea typeface="DM Sans Bold"/>
                <a:cs typeface="DM Sans Bold"/>
                <a:sym typeface="DM Sans Bold"/>
              </a:rPr>
              <a:t>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136805"/>
            <a:ext cx="11567960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71">
                <a:solidFill>
                  <a:srgbClr val="0C1D4B"/>
                </a:solidFill>
                <a:latin typeface="DM Sans Bold"/>
                <a:ea typeface="DM Sans Bold"/>
                <a:cs typeface="DM Sans Bold"/>
                <a:sym typeface="DM Sans Bold"/>
              </a:rPr>
              <a:t>PARA OPTAR AL TÍTULO DE LICENCIATURA EN INFORMÁTICA</a:t>
            </a:r>
          </a:p>
          <a:p>
            <a:pPr algn="l">
              <a:lnSpc>
                <a:spcPts val="4199"/>
              </a:lnSpc>
            </a:pPr>
            <a:r>
              <a:rPr lang="en-US" sz="2999" b="1" spc="71">
                <a:solidFill>
                  <a:srgbClr val="0C1D4B"/>
                </a:solidFill>
                <a:latin typeface="DM Sans Bold"/>
                <a:ea typeface="DM Sans Bold"/>
                <a:cs typeface="DM Sans Bold"/>
                <a:sym typeface="DM Sans Bold"/>
              </a:rPr>
              <a:t>MENCIÓN: INGENIERÍA DE SISTEMAS INFORMÁTICOS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333" y="1133475"/>
            <a:ext cx="9413333" cy="79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9"/>
              </a:lnSpc>
            </a:pPr>
            <a:r>
              <a:rPr lang="en-US" sz="59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TABLA DE CONTENIDO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22693" y="2605412"/>
            <a:ext cx="8442613" cy="47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354" lvl="1" indent="-419177" algn="l">
              <a:lnSpc>
                <a:spcPts val="7766"/>
              </a:lnSpc>
              <a:buFont typeface="Arial"/>
              <a:buChar char="•"/>
            </a:pPr>
            <a:r>
              <a:rPr lang="en-US" sz="3883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MARCO REFERENCIAL</a:t>
            </a:r>
          </a:p>
          <a:p>
            <a:pPr marL="838354" lvl="1" indent="-419177" algn="l">
              <a:lnSpc>
                <a:spcPts val="7766"/>
              </a:lnSpc>
              <a:buFont typeface="Arial"/>
              <a:buChar char="•"/>
            </a:pPr>
            <a:r>
              <a:rPr lang="en-US" sz="3883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MARCO TEÓRICO</a:t>
            </a:r>
          </a:p>
          <a:p>
            <a:pPr marL="838354" lvl="1" indent="-419177" algn="l">
              <a:lnSpc>
                <a:spcPts val="7766"/>
              </a:lnSpc>
              <a:buFont typeface="Arial"/>
              <a:buChar char="•"/>
            </a:pPr>
            <a:r>
              <a:rPr lang="en-US" sz="3883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MARCO APLICATIVO</a:t>
            </a:r>
          </a:p>
          <a:p>
            <a:pPr marL="838354" lvl="1" indent="-419177" algn="l">
              <a:lnSpc>
                <a:spcPts val="7766"/>
              </a:lnSpc>
              <a:buFont typeface="Arial"/>
              <a:buChar char="•"/>
            </a:pPr>
            <a:r>
              <a:rPr lang="en-US" sz="3883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</a:t>
            </a:r>
          </a:p>
          <a:p>
            <a:pPr marL="838354" lvl="1" indent="-419177" algn="l">
              <a:lnSpc>
                <a:spcPts val="7766"/>
              </a:lnSpc>
              <a:buFont typeface="Arial"/>
              <a:buChar char="•"/>
            </a:pPr>
            <a:r>
              <a:rPr lang="en-US" sz="3883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sp>
        <p:nvSpPr>
          <p:cNvPr id="4" name="Freeform 4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601471" y="9525325"/>
            <a:ext cx="465782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6529" y="5681516"/>
            <a:ext cx="6914943" cy="814121"/>
            <a:chOff x="0" y="0"/>
            <a:chExt cx="1821220" cy="21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57662" y="2543981"/>
            <a:ext cx="11619472" cy="313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20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MARCO REFERENCIAL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8371" y="5773299"/>
            <a:ext cx="533125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spc="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CAPITULO I</a:t>
            </a:r>
          </a:p>
        </p:txBody>
      </p:sp>
      <p:sp>
        <p:nvSpPr>
          <p:cNvPr id="8" name="Freeform 8"/>
          <p:cNvSpPr/>
          <p:nvPr/>
        </p:nvSpPr>
        <p:spPr>
          <a:xfrm>
            <a:off x="1271595" y="1470063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8" y="0"/>
                </a:lnTo>
                <a:lnTo>
                  <a:pt x="1052408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82803" y="7439688"/>
            <a:ext cx="6829829" cy="1515433"/>
          </a:xfrm>
          <a:custGeom>
            <a:avLst/>
            <a:gdLst/>
            <a:ahLst/>
            <a:cxnLst/>
            <a:rect l="l" t="t" r="r" b="b"/>
            <a:pathLst>
              <a:path w="6829829" h="1515433">
                <a:moveTo>
                  <a:pt x="0" y="0"/>
                </a:moveTo>
                <a:lnTo>
                  <a:pt x="6829829" y="0"/>
                </a:lnTo>
                <a:lnTo>
                  <a:pt x="6829829" y="1515433"/>
                </a:lnTo>
                <a:lnTo>
                  <a:pt x="0" y="1515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>
            <a:hlinkClick r:id="rId3" tooltip="https://www.google.com/imgres?q=tienda%20peque%C3%B1a&amp;imgurl=https%3A%2F%2Fcomunitaria.com%2Fwp-content%2Fuploads%2F2024%2F04%2FImagenes-para-articulos-9.png&amp;imgrefurl=https%3A%2F%2Fcomunitaria.com%2Fque-pasaria-si-desaparecen-las-pequenas-tiendas-del-barrio-en-el-que-vives%2F&amp;docid=n9t_PIUc9C6Q1M&amp;tbnid=2ZZncESnjF13HM&amp;vet=12ahUKEwjK2_GOhIGOAxWrO7kGHT2RDekQM3oECG4QAA..i&amp;w=1350&amp;h=650&amp;hcb=2&amp;ved=2ahUKEwjK2_GOhIGOAxWrO7kGHT2RDekQM3oECG4QAA"/>
          </p:cNvPr>
          <p:cNvSpPr/>
          <p:nvPr/>
        </p:nvSpPr>
        <p:spPr>
          <a:xfrm>
            <a:off x="12759273" y="1594956"/>
            <a:ext cx="2501140" cy="2603459"/>
          </a:xfrm>
          <a:custGeom>
            <a:avLst/>
            <a:gdLst/>
            <a:ahLst/>
            <a:cxnLst/>
            <a:rect l="l" t="t" r="r" b="b"/>
            <a:pathLst>
              <a:path w="2501140" h="2603459">
                <a:moveTo>
                  <a:pt x="0" y="0"/>
                </a:moveTo>
                <a:lnTo>
                  <a:pt x="2501140" y="0"/>
                </a:lnTo>
                <a:lnTo>
                  <a:pt x="2501140" y="2603459"/>
                </a:lnTo>
                <a:lnTo>
                  <a:pt x="0" y="2603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382803" y="4403329"/>
            <a:ext cx="11299036" cy="3302375"/>
          </a:xfrm>
          <a:custGeom>
            <a:avLst/>
            <a:gdLst/>
            <a:ahLst/>
            <a:cxnLst/>
            <a:rect l="l" t="t" r="r" b="b"/>
            <a:pathLst>
              <a:path w="11299036" h="3302375">
                <a:moveTo>
                  <a:pt x="0" y="0"/>
                </a:moveTo>
                <a:lnTo>
                  <a:pt x="11299036" y="0"/>
                </a:lnTo>
                <a:lnTo>
                  <a:pt x="11299036" y="3302375"/>
                </a:lnTo>
                <a:lnTo>
                  <a:pt x="0" y="3302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5855" y="4450875"/>
            <a:ext cx="3254829" cy="3254829"/>
          </a:xfrm>
          <a:custGeom>
            <a:avLst/>
            <a:gdLst/>
            <a:ahLst/>
            <a:cxnLst/>
            <a:rect l="l" t="t" r="r" b="b"/>
            <a:pathLst>
              <a:path w="3254829" h="3254829">
                <a:moveTo>
                  <a:pt x="0" y="0"/>
                </a:moveTo>
                <a:lnTo>
                  <a:pt x="3254829" y="0"/>
                </a:lnTo>
                <a:lnTo>
                  <a:pt x="3254829" y="3254829"/>
                </a:lnTo>
                <a:lnTo>
                  <a:pt x="0" y="3254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68925" y="2574998"/>
            <a:ext cx="1202200" cy="1258651"/>
          </a:xfrm>
          <a:custGeom>
            <a:avLst/>
            <a:gdLst/>
            <a:ahLst/>
            <a:cxnLst/>
            <a:rect l="l" t="t" r="r" b="b"/>
            <a:pathLst>
              <a:path w="1202200" h="1258651">
                <a:moveTo>
                  <a:pt x="0" y="0"/>
                </a:moveTo>
                <a:lnTo>
                  <a:pt x="1202200" y="0"/>
                </a:lnTo>
                <a:lnTo>
                  <a:pt x="1202200" y="1258652"/>
                </a:lnTo>
                <a:lnTo>
                  <a:pt x="0" y="1258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2635" y="823875"/>
            <a:ext cx="8231365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5"/>
              </a:lnSpc>
            </a:pPr>
            <a:r>
              <a:rPr lang="en-US" sz="65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INTRODUCCIÓN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89541BD-97EA-41F6-9919-BA14897377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6875" y="1957808"/>
            <a:ext cx="7661728" cy="2117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74699" y="6055494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30" y="0"/>
                </a:lnTo>
                <a:lnTo>
                  <a:pt x="717930" y="724516"/>
                </a:lnTo>
                <a:lnTo>
                  <a:pt x="0" y="724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33475"/>
            <a:ext cx="7307152" cy="790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9"/>
              </a:lnSpc>
            </a:pPr>
            <a:r>
              <a:rPr lang="en-US" sz="59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ANTENCEDENTES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50856" y="2468927"/>
          <a:ext cx="16986287" cy="4933951"/>
        </p:xfrm>
        <a:graphic>
          <a:graphicData uri="http://schemas.openxmlformats.org/drawingml/2006/table">
            <a:tbl>
              <a:tblPr/>
              <a:tblGrid>
                <a:gridCol w="192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9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552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TIPO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PROYECTO/TESIS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RESULTADO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4993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INTL.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Luz Silvana Tarazona Cruz, 2024, PONTIFICIA UNIVERSIDAD CATÓLICA DEL PERÚ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Reconocimiento de texto en manuscritos históricos peruanos utilizando modelos mixtos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Reconocimiento de escritura antigua con 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3433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BLANCA REINA CHOQUE GARCÍA, 2015, UNIVERSIDAD MAYOR DE SAN ANDRÉS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DISEÑO DE UN AUTÓMATA PARA LA TRADUCCIÓN DEL IDIOMA CHINO AL ESPAÑOL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Aplicación práctica de OCR y lenguajes formales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848267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5"/>
                </a:lnTo>
                <a:lnTo>
                  <a:pt x="0" y="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081856" y="6365146"/>
            <a:ext cx="7334398" cy="2695887"/>
          </a:xfrm>
          <a:custGeom>
            <a:avLst/>
            <a:gdLst/>
            <a:ahLst/>
            <a:cxnLst/>
            <a:rect l="l" t="t" r="r" b="b"/>
            <a:pathLst>
              <a:path w="7334398" h="2695887">
                <a:moveTo>
                  <a:pt x="0" y="0"/>
                </a:moveTo>
                <a:lnTo>
                  <a:pt x="7334397" y="0"/>
                </a:lnTo>
                <a:lnTo>
                  <a:pt x="7334397" y="2695887"/>
                </a:lnTo>
                <a:lnTo>
                  <a:pt x="0" y="2695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23141" y="6210524"/>
            <a:ext cx="4191017" cy="2850508"/>
          </a:xfrm>
          <a:custGeom>
            <a:avLst/>
            <a:gdLst/>
            <a:ahLst/>
            <a:cxnLst/>
            <a:rect l="l" t="t" r="r" b="b"/>
            <a:pathLst>
              <a:path w="4191017" h="2850508">
                <a:moveTo>
                  <a:pt x="0" y="0"/>
                </a:moveTo>
                <a:lnTo>
                  <a:pt x="4191018" y="0"/>
                </a:lnTo>
                <a:lnTo>
                  <a:pt x="4191018" y="2850509"/>
                </a:lnTo>
                <a:lnTo>
                  <a:pt x="0" y="28505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18650" y="1739314"/>
            <a:ext cx="5226072" cy="2815546"/>
          </a:xfrm>
          <a:custGeom>
            <a:avLst/>
            <a:gdLst/>
            <a:ahLst/>
            <a:cxnLst/>
            <a:rect l="l" t="t" r="r" b="b"/>
            <a:pathLst>
              <a:path w="5226072" h="2815546">
                <a:moveTo>
                  <a:pt x="0" y="0"/>
                </a:moveTo>
                <a:lnTo>
                  <a:pt x="5226072" y="0"/>
                </a:lnTo>
                <a:lnTo>
                  <a:pt x="5226072" y="2815547"/>
                </a:lnTo>
                <a:lnTo>
                  <a:pt x="0" y="2815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3688" y="3607109"/>
            <a:ext cx="4552653" cy="2558012"/>
          </a:xfrm>
          <a:custGeom>
            <a:avLst/>
            <a:gdLst/>
            <a:ahLst/>
            <a:cxnLst/>
            <a:rect l="l" t="t" r="r" b="b"/>
            <a:pathLst>
              <a:path w="4552653" h="2558012">
                <a:moveTo>
                  <a:pt x="0" y="0"/>
                </a:moveTo>
                <a:lnTo>
                  <a:pt x="4552653" y="0"/>
                </a:lnTo>
                <a:lnTo>
                  <a:pt x="4552653" y="2558012"/>
                </a:lnTo>
                <a:lnTo>
                  <a:pt x="0" y="2558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043695" y="2832715"/>
            <a:ext cx="11087991" cy="77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5800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 GENERAL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37910" y="5276719"/>
            <a:ext cx="10570464" cy="74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5530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PROBLEMAS ESPECÍFICOS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848267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5"/>
                </a:lnTo>
                <a:lnTo>
                  <a:pt x="0" y="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730288" y="6291089"/>
            <a:ext cx="7334398" cy="2695887"/>
          </a:xfrm>
          <a:custGeom>
            <a:avLst/>
            <a:gdLst/>
            <a:ahLst/>
            <a:cxnLst/>
            <a:rect l="l" t="t" r="r" b="b"/>
            <a:pathLst>
              <a:path w="7334398" h="2695887">
                <a:moveTo>
                  <a:pt x="0" y="0"/>
                </a:moveTo>
                <a:lnTo>
                  <a:pt x="7334397" y="0"/>
                </a:lnTo>
                <a:lnTo>
                  <a:pt x="7334397" y="2695886"/>
                </a:lnTo>
                <a:lnTo>
                  <a:pt x="0" y="2695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5247" y="3689954"/>
            <a:ext cx="3568448" cy="5041141"/>
          </a:xfrm>
          <a:custGeom>
            <a:avLst/>
            <a:gdLst/>
            <a:ahLst/>
            <a:cxnLst/>
            <a:rect l="l" t="t" r="r" b="b"/>
            <a:pathLst>
              <a:path w="3568448" h="5041141">
                <a:moveTo>
                  <a:pt x="0" y="0"/>
                </a:moveTo>
                <a:lnTo>
                  <a:pt x="3568448" y="0"/>
                </a:lnTo>
                <a:lnTo>
                  <a:pt x="3568448" y="5041141"/>
                </a:lnTo>
                <a:lnTo>
                  <a:pt x="0" y="50411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858739" y="4192886"/>
            <a:ext cx="3925766" cy="2940535"/>
          </a:xfrm>
          <a:custGeom>
            <a:avLst/>
            <a:gdLst/>
            <a:ahLst/>
            <a:cxnLst/>
            <a:rect l="l" t="t" r="r" b="b"/>
            <a:pathLst>
              <a:path w="3925766" h="2940535">
                <a:moveTo>
                  <a:pt x="0" y="0"/>
                </a:moveTo>
                <a:lnTo>
                  <a:pt x="3925765" y="0"/>
                </a:lnTo>
                <a:lnTo>
                  <a:pt x="3925765" y="2940535"/>
                </a:lnTo>
                <a:lnTo>
                  <a:pt x="0" y="2940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6508" y="2392175"/>
            <a:ext cx="11928748" cy="84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3"/>
              </a:lnSpc>
            </a:pPr>
            <a:r>
              <a:rPr lang="en-US" sz="6240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4792" y="4288136"/>
            <a:ext cx="10570464" cy="74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5530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ESPECÍFICOS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848267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5"/>
                </a:lnTo>
                <a:lnTo>
                  <a:pt x="0" y="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934504">
            <a:off x="9198930" y="3351671"/>
            <a:ext cx="1605739" cy="1605739"/>
          </a:xfrm>
          <a:custGeom>
            <a:avLst/>
            <a:gdLst/>
            <a:ahLst/>
            <a:cxnLst/>
            <a:rect l="l" t="t" r="r" b="b"/>
            <a:pathLst>
              <a:path w="1605739" h="1605739">
                <a:moveTo>
                  <a:pt x="0" y="0"/>
                </a:moveTo>
                <a:lnTo>
                  <a:pt x="1605740" y="0"/>
                </a:lnTo>
                <a:lnTo>
                  <a:pt x="1605740" y="1605740"/>
                </a:lnTo>
                <a:lnTo>
                  <a:pt x="0" y="1605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78970" y="3871473"/>
            <a:ext cx="3459468" cy="3323506"/>
          </a:xfrm>
          <a:custGeom>
            <a:avLst/>
            <a:gdLst/>
            <a:ahLst/>
            <a:cxnLst/>
            <a:rect l="l" t="t" r="r" b="b"/>
            <a:pathLst>
              <a:path w="3459468" h="3323506">
                <a:moveTo>
                  <a:pt x="0" y="0"/>
                </a:moveTo>
                <a:lnTo>
                  <a:pt x="3459468" y="0"/>
                </a:lnTo>
                <a:lnTo>
                  <a:pt x="3459468" y="3323506"/>
                </a:lnTo>
                <a:lnTo>
                  <a:pt x="0" y="3323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791808">
            <a:off x="11447028" y="4927429"/>
            <a:ext cx="2248193" cy="1496071"/>
          </a:xfrm>
          <a:custGeom>
            <a:avLst/>
            <a:gdLst/>
            <a:ahLst/>
            <a:cxnLst/>
            <a:rect l="l" t="t" r="r" b="b"/>
            <a:pathLst>
              <a:path w="2248193" h="1496071">
                <a:moveTo>
                  <a:pt x="0" y="0"/>
                </a:moveTo>
                <a:lnTo>
                  <a:pt x="2248193" y="0"/>
                </a:lnTo>
                <a:lnTo>
                  <a:pt x="2248193" y="1496070"/>
                </a:lnTo>
                <a:lnTo>
                  <a:pt x="0" y="1496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576802" y="5096535"/>
            <a:ext cx="1458274" cy="1458274"/>
          </a:xfrm>
          <a:custGeom>
            <a:avLst/>
            <a:gdLst/>
            <a:ahLst/>
            <a:cxnLst/>
            <a:rect l="l" t="t" r="r" b="b"/>
            <a:pathLst>
              <a:path w="1458274" h="1458274">
                <a:moveTo>
                  <a:pt x="0" y="0"/>
                </a:moveTo>
                <a:lnTo>
                  <a:pt x="1458274" y="0"/>
                </a:lnTo>
                <a:lnTo>
                  <a:pt x="1458274" y="1458274"/>
                </a:lnTo>
                <a:lnTo>
                  <a:pt x="0" y="14582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429605" y="6917548"/>
            <a:ext cx="4019384" cy="2250855"/>
          </a:xfrm>
          <a:custGeom>
            <a:avLst/>
            <a:gdLst/>
            <a:ahLst/>
            <a:cxnLst/>
            <a:rect l="l" t="t" r="r" b="b"/>
            <a:pathLst>
              <a:path w="4019384" h="2250855">
                <a:moveTo>
                  <a:pt x="0" y="0"/>
                </a:moveTo>
                <a:lnTo>
                  <a:pt x="4019383" y="0"/>
                </a:lnTo>
                <a:lnTo>
                  <a:pt x="4019383" y="2250854"/>
                </a:lnTo>
                <a:lnTo>
                  <a:pt x="0" y="22508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99089" y="1705980"/>
            <a:ext cx="5053237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HIPOTESIS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05939" y="1686930"/>
            <a:ext cx="4853333" cy="74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5530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 =&gt; 70%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9089" y="3062590"/>
            <a:ext cx="5899522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0892" y="4335866"/>
            <a:ext cx="7347611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DEPENDIENTE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0892" y="5765149"/>
            <a:ext cx="7704932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INDEPENDIENTE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0892" y="7136623"/>
            <a:ext cx="8795700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INTERVINIENTE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848267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5"/>
                </a:lnTo>
                <a:lnTo>
                  <a:pt x="0" y="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579461" y="1862584"/>
            <a:ext cx="3033072" cy="2242846"/>
          </a:xfrm>
          <a:custGeom>
            <a:avLst/>
            <a:gdLst/>
            <a:ahLst/>
            <a:cxnLst/>
            <a:rect l="l" t="t" r="r" b="b"/>
            <a:pathLst>
              <a:path w="3033072" h="2242846">
                <a:moveTo>
                  <a:pt x="0" y="0"/>
                </a:moveTo>
                <a:lnTo>
                  <a:pt x="3033071" y="0"/>
                </a:lnTo>
                <a:lnTo>
                  <a:pt x="3033071" y="2242846"/>
                </a:lnTo>
                <a:lnTo>
                  <a:pt x="0" y="2242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2680" y="4275670"/>
            <a:ext cx="3536494" cy="2129239"/>
          </a:xfrm>
          <a:custGeom>
            <a:avLst/>
            <a:gdLst/>
            <a:ahLst/>
            <a:cxnLst/>
            <a:rect l="l" t="t" r="r" b="b"/>
            <a:pathLst>
              <a:path w="3536494" h="2129239">
                <a:moveTo>
                  <a:pt x="0" y="0"/>
                </a:moveTo>
                <a:lnTo>
                  <a:pt x="3536494" y="0"/>
                </a:lnTo>
                <a:lnTo>
                  <a:pt x="3536494" y="2129238"/>
                </a:lnTo>
                <a:lnTo>
                  <a:pt x="0" y="212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3419" y="6715286"/>
            <a:ext cx="3175016" cy="1858827"/>
          </a:xfrm>
          <a:custGeom>
            <a:avLst/>
            <a:gdLst/>
            <a:ahLst/>
            <a:cxnLst/>
            <a:rect l="l" t="t" r="r" b="b"/>
            <a:pathLst>
              <a:path w="3175016" h="1858827">
                <a:moveTo>
                  <a:pt x="0" y="0"/>
                </a:moveTo>
                <a:lnTo>
                  <a:pt x="3175016" y="0"/>
                </a:lnTo>
                <a:lnTo>
                  <a:pt x="3175016" y="1858828"/>
                </a:lnTo>
                <a:lnTo>
                  <a:pt x="0" y="18588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2834361"/>
            <a:ext cx="12368907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JUSTIFICACION SOCIAL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09581" y="4579593"/>
            <a:ext cx="13610126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JUSTIFICACION ECONOMICA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49174" y="6324824"/>
            <a:ext cx="13610126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JUSTIFICACION ACADEMICA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848267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5"/>
                </a:lnTo>
                <a:lnTo>
                  <a:pt x="0" y="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304352" y="1937675"/>
            <a:ext cx="3812018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LIMITES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1165" y="1937675"/>
            <a:ext cx="5203687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95906" y="1937675"/>
            <a:ext cx="7592094" cy="89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6659" b="1">
                <a:solidFill>
                  <a:srgbClr val="0C1D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METODOLOGIAS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48284" y="3381161"/>
            <a:ext cx="5593137" cy="507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APLICACIÓN MÓVIL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USO DE CRNN 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RECIBOS DIGITALES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DATOS ALMACENADOS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ANÁLISIS DE DATOS BÁSICOS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FUNCION OFFLINE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2770" y="3261524"/>
            <a:ext cx="5593137" cy="571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AREA LA PAZ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RECIBOS MANUSCRITOS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LETRA CLARA Y LEGIBLE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ALMACENAMIENTOS ESPACIO EN MÓVIL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EFICIENCIA VARIA, FACTORES EXTERNOS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54395" y="3062073"/>
            <a:ext cx="5593137" cy="125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METODO CIENTIFICO</a:t>
            </a:r>
          </a:p>
          <a:p>
            <a:pPr marL="784770" lvl="1" indent="-392385" algn="l">
              <a:lnSpc>
                <a:spcPts val="5088"/>
              </a:lnSpc>
              <a:buFont typeface="Arial"/>
              <a:buChar char="•"/>
            </a:pPr>
            <a:r>
              <a:rPr lang="en-US" sz="3634">
                <a:solidFill>
                  <a:srgbClr val="0C1D4B"/>
                </a:solidFill>
                <a:latin typeface="Alice Bold"/>
                <a:ea typeface="Alice Bold"/>
                <a:cs typeface="Alice Bold"/>
                <a:sym typeface="Alice Bold"/>
              </a:rPr>
              <a:t>MOBILE-D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6529" y="5681516"/>
            <a:ext cx="6914943" cy="814121"/>
            <a:chOff x="0" y="0"/>
            <a:chExt cx="1821220" cy="21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57662" y="2543981"/>
            <a:ext cx="11619472" cy="313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20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MARCO TEORICO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8371" y="5773299"/>
            <a:ext cx="533125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spc="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CAPITULO II</a:t>
            </a:r>
          </a:p>
        </p:txBody>
      </p:sp>
      <p:sp>
        <p:nvSpPr>
          <p:cNvPr id="8" name="Freeform 8"/>
          <p:cNvSpPr/>
          <p:nvPr/>
        </p:nvSpPr>
        <p:spPr>
          <a:xfrm>
            <a:off x="1271595" y="1470063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8" y="0"/>
                </a:lnTo>
                <a:lnTo>
                  <a:pt x="1052408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3394" y="4571917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5"/>
                </a:lnTo>
                <a:lnTo>
                  <a:pt x="0" y="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83707" y="398525"/>
            <a:ext cx="255177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CRNN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20837" y="1524468"/>
            <a:ext cx="870936" cy="803439"/>
          </a:xfrm>
          <a:custGeom>
            <a:avLst/>
            <a:gdLst/>
            <a:ahLst/>
            <a:cxnLst/>
            <a:rect l="l" t="t" r="r" b="b"/>
            <a:pathLst>
              <a:path w="870936" h="803439">
                <a:moveTo>
                  <a:pt x="0" y="0"/>
                </a:moveTo>
                <a:lnTo>
                  <a:pt x="870937" y="0"/>
                </a:lnTo>
                <a:lnTo>
                  <a:pt x="870937" y="803439"/>
                </a:lnTo>
                <a:lnTo>
                  <a:pt x="0" y="80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55531" y="4179432"/>
            <a:ext cx="870936" cy="803439"/>
          </a:xfrm>
          <a:custGeom>
            <a:avLst/>
            <a:gdLst/>
            <a:ahLst/>
            <a:cxnLst/>
            <a:rect l="l" t="t" r="r" b="b"/>
            <a:pathLst>
              <a:path w="870936" h="803439">
                <a:moveTo>
                  <a:pt x="0" y="0"/>
                </a:moveTo>
                <a:lnTo>
                  <a:pt x="870937" y="0"/>
                </a:lnTo>
                <a:lnTo>
                  <a:pt x="870937" y="803439"/>
                </a:lnTo>
                <a:lnTo>
                  <a:pt x="0" y="80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280042" y="2193854"/>
            <a:ext cx="5532836" cy="177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471" lvl="1" indent="-400236" algn="l">
              <a:lnSpc>
                <a:spcPts val="7415"/>
              </a:lnSpc>
              <a:buFont typeface="Arial"/>
              <a:buChar char="•"/>
            </a:pPr>
            <a:r>
              <a:rPr lang="en-US" sz="3707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 reconocer patrones en imágenes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88854" y="1600668"/>
            <a:ext cx="9648049" cy="5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433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CNN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23548" y="4198411"/>
            <a:ext cx="1561319" cy="5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433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RNN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14736" y="4984832"/>
            <a:ext cx="5532836" cy="177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471" lvl="1" indent="-400236" algn="l">
              <a:lnSpc>
                <a:spcPts val="7415"/>
              </a:lnSpc>
              <a:buFont typeface="Arial"/>
              <a:buChar char="•"/>
            </a:pPr>
            <a:r>
              <a:rPr lang="en-US" sz="3707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toma de decisión de clasificación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969" y="4835303"/>
            <a:ext cx="717929" cy="724516"/>
          </a:xfrm>
          <a:custGeom>
            <a:avLst/>
            <a:gdLst/>
            <a:ahLst/>
            <a:cxnLst/>
            <a:rect l="l" t="t" r="r" b="b"/>
            <a:pathLst>
              <a:path w="717929" h="724516">
                <a:moveTo>
                  <a:pt x="0" y="0"/>
                </a:moveTo>
                <a:lnTo>
                  <a:pt x="717929" y="0"/>
                </a:lnTo>
                <a:lnTo>
                  <a:pt x="717929" y="724516"/>
                </a:lnTo>
                <a:lnTo>
                  <a:pt x="0" y="724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421240" y="1524468"/>
            <a:ext cx="870936" cy="803439"/>
          </a:xfrm>
          <a:custGeom>
            <a:avLst/>
            <a:gdLst/>
            <a:ahLst/>
            <a:cxnLst/>
            <a:rect l="l" t="t" r="r" b="b"/>
            <a:pathLst>
              <a:path w="870936" h="803439">
                <a:moveTo>
                  <a:pt x="0" y="0"/>
                </a:moveTo>
                <a:lnTo>
                  <a:pt x="870936" y="0"/>
                </a:lnTo>
                <a:lnTo>
                  <a:pt x="870936" y="803439"/>
                </a:lnTo>
                <a:lnTo>
                  <a:pt x="0" y="80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555933" y="4179432"/>
            <a:ext cx="870936" cy="803439"/>
          </a:xfrm>
          <a:custGeom>
            <a:avLst/>
            <a:gdLst/>
            <a:ahLst/>
            <a:cxnLst/>
            <a:rect l="l" t="t" r="r" b="b"/>
            <a:pathLst>
              <a:path w="870936" h="803439">
                <a:moveTo>
                  <a:pt x="0" y="0"/>
                </a:moveTo>
                <a:lnTo>
                  <a:pt x="870937" y="0"/>
                </a:lnTo>
                <a:lnTo>
                  <a:pt x="870937" y="803439"/>
                </a:lnTo>
                <a:lnTo>
                  <a:pt x="0" y="80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605490" y="2193854"/>
            <a:ext cx="3993908" cy="177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471" lvl="1" indent="-400236" algn="l">
              <a:lnSpc>
                <a:spcPts val="7415"/>
              </a:lnSpc>
              <a:buFont typeface="Arial"/>
              <a:buChar char="•"/>
            </a:pPr>
            <a:r>
              <a:rPr lang="en-US" sz="3707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Detección de objetos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9256" y="1600668"/>
            <a:ext cx="4908849" cy="5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433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YOLOv5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3950" y="4198411"/>
            <a:ext cx="5755135" cy="5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433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Tesseract OCR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5490" y="5010682"/>
            <a:ext cx="3993908" cy="177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471" lvl="1" indent="-400236" algn="l">
              <a:lnSpc>
                <a:spcPts val="7415"/>
              </a:lnSpc>
              <a:buFont typeface="Arial"/>
              <a:buChar char="•"/>
            </a:pPr>
            <a:r>
              <a:rPr lang="en-US" sz="3707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Reconoce texto impreso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38663" y="398525"/>
            <a:ext cx="8153893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YOLOv5 + Tesseract OCR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0961" y="7081915"/>
            <a:ext cx="12723836" cy="742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 - D</a:t>
            </a:r>
          </a:p>
        </p:txBody>
      </p:sp>
      <p:sp>
        <p:nvSpPr>
          <p:cNvPr id="25" name="Freeform 25"/>
          <p:cNvSpPr/>
          <p:nvPr/>
        </p:nvSpPr>
        <p:spPr>
          <a:xfrm>
            <a:off x="1519145" y="8061833"/>
            <a:ext cx="870936" cy="803439"/>
          </a:xfrm>
          <a:custGeom>
            <a:avLst/>
            <a:gdLst/>
            <a:ahLst/>
            <a:cxnLst/>
            <a:rect l="l" t="t" r="r" b="b"/>
            <a:pathLst>
              <a:path w="870936" h="803439">
                <a:moveTo>
                  <a:pt x="0" y="0"/>
                </a:moveTo>
                <a:lnTo>
                  <a:pt x="870936" y="0"/>
                </a:lnTo>
                <a:lnTo>
                  <a:pt x="870936" y="803439"/>
                </a:lnTo>
                <a:lnTo>
                  <a:pt x="0" y="80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761281" y="8212537"/>
            <a:ext cx="12562053" cy="5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433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Desarrollo Ágil Enfocado en Apps Móviles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6529" y="5681516"/>
            <a:ext cx="6914943" cy="814121"/>
            <a:chOff x="0" y="0"/>
            <a:chExt cx="1821220" cy="21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57662" y="2543981"/>
            <a:ext cx="11619472" cy="313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20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MARCO APLICATIVO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8371" y="5773299"/>
            <a:ext cx="533125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spc="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CAPITULO III</a:t>
            </a:r>
          </a:p>
        </p:txBody>
      </p:sp>
      <p:sp>
        <p:nvSpPr>
          <p:cNvPr id="8" name="Freeform 8"/>
          <p:cNvSpPr/>
          <p:nvPr/>
        </p:nvSpPr>
        <p:spPr>
          <a:xfrm>
            <a:off x="1271595" y="1470063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8" y="0"/>
                </a:lnTo>
                <a:lnTo>
                  <a:pt x="1052408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25643" y="1869502"/>
            <a:ext cx="3067089" cy="2889198"/>
          </a:xfrm>
          <a:custGeom>
            <a:avLst/>
            <a:gdLst/>
            <a:ahLst/>
            <a:cxnLst/>
            <a:rect l="l" t="t" r="r" b="b"/>
            <a:pathLst>
              <a:path w="3067089" h="2889198">
                <a:moveTo>
                  <a:pt x="0" y="0"/>
                </a:moveTo>
                <a:lnTo>
                  <a:pt x="3067089" y="0"/>
                </a:lnTo>
                <a:lnTo>
                  <a:pt x="3067089" y="2889198"/>
                </a:lnTo>
                <a:lnTo>
                  <a:pt x="0" y="2889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106163" y="4057113"/>
            <a:ext cx="2444134" cy="2602748"/>
            <a:chOff x="0" y="0"/>
            <a:chExt cx="3258845" cy="3470330"/>
          </a:xfrm>
        </p:grpSpPr>
        <p:sp>
          <p:nvSpPr>
            <p:cNvPr id="10" name="Freeform 10"/>
            <p:cNvSpPr/>
            <p:nvPr/>
          </p:nvSpPr>
          <p:spPr>
            <a:xfrm>
              <a:off x="0" y="1096110"/>
              <a:ext cx="1344773" cy="2374220"/>
            </a:xfrm>
            <a:custGeom>
              <a:avLst/>
              <a:gdLst/>
              <a:ahLst/>
              <a:cxnLst/>
              <a:rect l="l" t="t" r="r" b="b"/>
              <a:pathLst>
                <a:path w="1344773" h="2374220">
                  <a:moveTo>
                    <a:pt x="0" y="0"/>
                  </a:moveTo>
                  <a:lnTo>
                    <a:pt x="1344773" y="0"/>
                  </a:lnTo>
                  <a:lnTo>
                    <a:pt x="1344773" y="2374220"/>
                  </a:lnTo>
                  <a:lnTo>
                    <a:pt x="0" y="2374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3786209">
              <a:off x="1363256" y="383542"/>
              <a:ext cx="1735225" cy="1425136"/>
            </a:xfrm>
            <a:custGeom>
              <a:avLst/>
              <a:gdLst/>
              <a:ahLst/>
              <a:cxnLst/>
              <a:rect l="l" t="t" r="r" b="b"/>
              <a:pathLst>
                <a:path w="1735225" h="1425136">
                  <a:moveTo>
                    <a:pt x="0" y="0"/>
                  </a:moveTo>
                  <a:lnTo>
                    <a:pt x="1735225" y="0"/>
                  </a:lnTo>
                  <a:lnTo>
                    <a:pt x="1735225" y="1425136"/>
                  </a:lnTo>
                  <a:lnTo>
                    <a:pt x="0" y="1425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230868" y="508294"/>
              <a:ext cx="797664" cy="835120"/>
            </a:xfrm>
            <a:custGeom>
              <a:avLst/>
              <a:gdLst/>
              <a:ahLst/>
              <a:cxnLst/>
              <a:rect l="l" t="t" r="r" b="b"/>
              <a:pathLst>
                <a:path w="797664" h="835120">
                  <a:moveTo>
                    <a:pt x="0" y="0"/>
                  </a:moveTo>
                  <a:lnTo>
                    <a:pt x="797665" y="0"/>
                  </a:lnTo>
                  <a:lnTo>
                    <a:pt x="797665" y="835120"/>
                  </a:lnTo>
                  <a:lnTo>
                    <a:pt x="0" y="835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4965408" y="2523030"/>
            <a:ext cx="791072" cy="791072"/>
          </a:xfrm>
          <a:custGeom>
            <a:avLst/>
            <a:gdLst/>
            <a:ahLst/>
            <a:cxnLst/>
            <a:rect l="l" t="t" r="r" b="b"/>
            <a:pathLst>
              <a:path w="791072" h="791072">
                <a:moveTo>
                  <a:pt x="0" y="0"/>
                </a:moveTo>
                <a:lnTo>
                  <a:pt x="791072" y="0"/>
                </a:lnTo>
                <a:lnTo>
                  <a:pt x="791072" y="791071"/>
                </a:lnTo>
                <a:lnTo>
                  <a:pt x="0" y="791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869061" y="2582038"/>
            <a:ext cx="795558" cy="732063"/>
          </a:xfrm>
          <a:custGeom>
            <a:avLst/>
            <a:gdLst/>
            <a:ahLst/>
            <a:cxnLst/>
            <a:rect l="l" t="t" r="r" b="b"/>
            <a:pathLst>
              <a:path w="795558" h="732063">
                <a:moveTo>
                  <a:pt x="0" y="0"/>
                </a:moveTo>
                <a:lnTo>
                  <a:pt x="795559" y="0"/>
                </a:lnTo>
                <a:lnTo>
                  <a:pt x="795559" y="732063"/>
                </a:lnTo>
                <a:lnTo>
                  <a:pt x="0" y="7320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540662" y="6659860"/>
            <a:ext cx="5215817" cy="2349728"/>
            <a:chOff x="0" y="0"/>
            <a:chExt cx="6954423" cy="3132971"/>
          </a:xfrm>
        </p:grpSpPr>
        <p:sp>
          <p:nvSpPr>
            <p:cNvPr id="16" name="Freeform 16"/>
            <p:cNvSpPr/>
            <p:nvPr/>
          </p:nvSpPr>
          <p:spPr>
            <a:xfrm>
              <a:off x="0" y="97176"/>
              <a:ext cx="1111851" cy="1367913"/>
            </a:xfrm>
            <a:custGeom>
              <a:avLst/>
              <a:gdLst/>
              <a:ahLst/>
              <a:cxnLst/>
              <a:rect l="l" t="t" r="r" b="b"/>
              <a:pathLst>
                <a:path w="1111851" h="1367913">
                  <a:moveTo>
                    <a:pt x="0" y="0"/>
                  </a:moveTo>
                  <a:lnTo>
                    <a:pt x="1111851" y="0"/>
                  </a:lnTo>
                  <a:lnTo>
                    <a:pt x="1111851" y="1367913"/>
                  </a:lnTo>
                  <a:lnTo>
                    <a:pt x="0" y="1367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603581" y="360407"/>
              <a:ext cx="2145481" cy="841451"/>
            </a:xfrm>
            <a:custGeom>
              <a:avLst/>
              <a:gdLst/>
              <a:ahLst/>
              <a:cxnLst/>
              <a:rect l="l" t="t" r="r" b="b"/>
              <a:pathLst>
                <a:path w="2145481" h="841451">
                  <a:moveTo>
                    <a:pt x="0" y="0"/>
                  </a:moveTo>
                  <a:lnTo>
                    <a:pt x="2145481" y="0"/>
                  </a:lnTo>
                  <a:lnTo>
                    <a:pt x="2145481" y="841451"/>
                  </a:lnTo>
                  <a:lnTo>
                    <a:pt x="0" y="841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4628384" y="0"/>
              <a:ext cx="2326039" cy="1562265"/>
            </a:xfrm>
            <a:custGeom>
              <a:avLst/>
              <a:gdLst/>
              <a:ahLst/>
              <a:cxnLst/>
              <a:rect l="l" t="t" r="r" b="b"/>
              <a:pathLst>
                <a:path w="2326039" h="1562265">
                  <a:moveTo>
                    <a:pt x="0" y="0"/>
                  </a:moveTo>
                  <a:lnTo>
                    <a:pt x="2326039" y="0"/>
                  </a:lnTo>
                  <a:lnTo>
                    <a:pt x="2326039" y="1562265"/>
                  </a:lnTo>
                  <a:lnTo>
                    <a:pt x="0" y="156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15180" y="2055618"/>
              <a:ext cx="2676321" cy="1077353"/>
            </a:xfrm>
            <a:custGeom>
              <a:avLst/>
              <a:gdLst/>
              <a:ahLst/>
              <a:cxnLst/>
              <a:rect l="l" t="t" r="r" b="b"/>
              <a:pathLst>
                <a:path w="2676321" h="1077353">
                  <a:moveTo>
                    <a:pt x="0" y="0"/>
                  </a:moveTo>
                  <a:lnTo>
                    <a:pt x="2676322" y="0"/>
                  </a:lnTo>
                  <a:lnTo>
                    <a:pt x="2676322" y="1077353"/>
                  </a:lnTo>
                  <a:lnTo>
                    <a:pt x="0" y="1077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3621072" y="2115774"/>
              <a:ext cx="2600347" cy="957040"/>
            </a:xfrm>
            <a:custGeom>
              <a:avLst/>
              <a:gdLst/>
              <a:ahLst/>
              <a:cxnLst/>
              <a:rect l="l" t="t" r="r" b="b"/>
              <a:pathLst>
                <a:path w="2600347" h="957040">
                  <a:moveTo>
                    <a:pt x="0" y="0"/>
                  </a:moveTo>
                  <a:lnTo>
                    <a:pt x="2600347" y="0"/>
                  </a:lnTo>
                  <a:lnTo>
                    <a:pt x="2600347" y="957040"/>
                  </a:lnTo>
                  <a:lnTo>
                    <a:pt x="0" y="95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5095173" y="1676657"/>
            <a:ext cx="1322614" cy="653527"/>
          </a:xfrm>
          <a:custGeom>
            <a:avLst/>
            <a:gdLst/>
            <a:ahLst/>
            <a:cxnLst/>
            <a:rect l="l" t="t" r="r" b="b"/>
            <a:pathLst>
              <a:path w="1322614" h="653527">
                <a:moveTo>
                  <a:pt x="0" y="0"/>
                </a:moveTo>
                <a:lnTo>
                  <a:pt x="1322614" y="0"/>
                </a:lnTo>
                <a:lnTo>
                  <a:pt x="1322614" y="653527"/>
                </a:lnTo>
                <a:lnTo>
                  <a:pt x="0" y="6535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graphicFrame>
        <p:nvGraphicFramePr>
          <p:cNvPr id="22" name="Object 22"/>
          <p:cNvGraphicFramePr/>
          <p:nvPr/>
        </p:nvGraphicFramePr>
        <p:xfrm>
          <a:off x="660244" y="1512600"/>
          <a:ext cx="11759892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18" imgW="14109700" imgH="10579100" progId="Excel.Sheet.12">
                  <p:embed/>
                </p:oleObj>
              </mc:Choice>
              <mc:Fallback>
                <p:oleObj name="Worksheet" r:id="rId18" imgW="14109700" imgH="10579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60244" y="1512600"/>
                        <a:ext cx="11759892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3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Exploracion E Inicializacion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886" y="6216506"/>
            <a:ext cx="10274370" cy="270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471" lvl="1" indent="-400236" algn="l">
              <a:lnSpc>
                <a:spcPts val="7415"/>
              </a:lnSpc>
              <a:buFont typeface="Arial"/>
              <a:buChar char="•"/>
            </a:pPr>
            <a:r>
              <a:rPr lang="en-US" sz="3707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Configuración de entorno de desarrollo:                           VsCode, Android Studio, Colab.</a:t>
            </a:r>
          </a:p>
          <a:p>
            <a:pPr marL="800471" lvl="1" indent="-400236" algn="l">
              <a:lnSpc>
                <a:spcPts val="7415"/>
              </a:lnSpc>
              <a:buFont typeface="Arial"/>
              <a:buChar char="•"/>
            </a:pPr>
            <a:r>
              <a:rPr lang="en-US" sz="3707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Planificación de fases e iteraciones.</a:t>
            </a:r>
          </a:p>
        </p:txBody>
      </p:sp>
      <p:sp>
        <p:nvSpPr>
          <p:cNvPr id="26" name="Freeform 26"/>
          <p:cNvSpPr/>
          <p:nvPr/>
        </p:nvSpPr>
        <p:spPr>
          <a:xfrm>
            <a:off x="660244" y="8329787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1"/>
                </a:lnTo>
                <a:lnTo>
                  <a:pt x="0" y="67980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51886" y="6502256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1"/>
                </a:lnTo>
                <a:lnTo>
                  <a:pt x="0" y="67980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15470" y="1188471"/>
            <a:ext cx="10628670" cy="393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55253" lvl="1" indent="-577626" algn="l">
              <a:lnSpc>
                <a:spcPts val="10701"/>
              </a:lnSpc>
              <a:buFont typeface="Arial"/>
              <a:buChar char="•"/>
            </a:pPr>
            <a:r>
              <a:rPr lang="en-US" sz="53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Recopilación y captura.</a:t>
            </a:r>
          </a:p>
          <a:p>
            <a:pPr marL="1155253" lvl="1" indent="-577626" algn="l">
              <a:lnSpc>
                <a:spcPts val="10701"/>
              </a:lnSpc>
              <a:buFont typeface="Arial"/>
              <a:buChar char="•"/>
            </a:pPr>
            <a:r>
              <a:rPr lang="en-US" sz="53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Diseño de Script Python .</a:t>
            </a:r>
          </a:p>
          <a:p>
            <a:pPr marL="1155253" lvl="1" indent="-577626" algn="l">
              <a:lnSpc>
                <a:spcPts val="10701"/>
              </a:lnSpc>
              <a:buFont typeface="Arial"/>
              <a:buChar char="•"/>
            </a:pPr>
            <a:r>
              <a:rPr lang="en-US" sz="53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Detección de boundingbox.</a:t>
            </a:r>
          </a:p>
        </p:txBody>
      </p:sp>
      <p:sp>
        <p:nvSpPr>
          <p:cNvPr id="9" name="Freeform 9"/>
          <p:cNvSpPr/>
          <p:nvPr/>
        </p:nvSpPr>
        <p:spPr>
          <a:xfrm>
            <a:off x="1347014" y="3075247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7014" y="1598046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47014" y="449748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1"/>
                </a:lnTo>
                <a:lnTo>
                  <a:pt x="0" y="679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269862" y="5120216"/>
            <a:ext cx="5390826" cy="4970761"/>
          </a:xfrm>
          <a:custGeom>
            <a:avLst/>
            <a:gdLst/>
            <a:ahLst/>
            <a:cxnLst/>
            <a:rect l="l" t="t" r="r" b="b"/>
            <a:pathLst>
              <a:path w="5390826" h="4970761">
                <a:moveTo>
                  <a:pt x="0" y="0"/>
                </a:moveTo>
                <a:lnTo>
                  <a:pt x="5390826" y="0"/>
                </a:lnTo>
                <a:lnTo>
                  <a:pt x="5390826" y="4970762"/>
                </a:lnTo>
                <a:lnTo>
                  <a:pt x="0" y="4970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65706" y="5318884"/>
            <a:ext cx="7006743" cy="4664841"/>
          </a:xfrm>
          <a:custGeom>
            <a:avLst/>
            <a:gdLst/>
            <a:ahLst/>
            <a:cxnLst/>
            <a:rect l="l" t="t" r="r" b="b"/>
            <a:pathLst>
              <a:path w="7006743" h="4664841">
                <a:moveTo>
                  <a:pt x="0" y="0"/>
                </a:moveTo>
                <a:lnTo>
                  <a:pt x="7006744" y="0"/>
                </a:lnTo>
                <a:lnTo>
                  <a:pt x="7006744" y="4664841"/>
                </a:lnTo>
                <a:lnTo>
                  <a:pt x="0" y="4664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780549" y="281675"/>
            <a:ext cx="6023568" cy="5037209"/>
          </a:xfrm>
          <a:custGeom>
            <a:avLst/>
            <a:gdLst/>
            <a:ahLst/>
            <a:cxnLst/>
            <a:rect l="l" t="t" r="r" b="b"/>
            <a:pathLst>
              <a:path w="6023568" h="5037209">
                <a:moveTo>
                  <a:pt x="0" y="0"/>
                </a:moveTo>
                <a:lnTo>
                  <a:pt x="6023567" y="0"/>
                </a:lnTo>
                <a:lnTo>
                  <a:pt x="6023567" y="5037209"/>
                </a:lnTo>
                <a:lnTo>
                  <a:pt x="0" y="50372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Produccion - Iterarion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8332" y="3553695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88332" y="2076494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8694" y="6280044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1"/>
                </a:lnTo>
                <a:lnTo>
                  <a:pt x="0" y="679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22114">
            <a:off x="9717325" y="5471365"/>
            <a:ext cx="8344193" cy="4367524"/>
          </a:xfrm>
          <a:custGeom>
            <a:avLst/>
            <a:gdLst/>
            <a:ahLst/>
            <a:cxnLst/>
            <a:rect l="l" t="t" r="r" b="b"/>
            <a:pathLst>
              <a:path w="8344193" h="4367524">
                <a:moveTo>
                  <a:pt x="0" y="0"/>
                </a:moveTo>
                <a:lnTo>
                  <a:pt x="8344193" y="0"/>
                </a:lnTo>
                <a:lnTo>
                  <a:pt x="8344193" y="4367524"/>
                </a:lnTo>
                <a:lnTo>
                  <a:pt x="0" y="4367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55" t="-5980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616834" y="1028700"/>
            <a:ext cx="7402622" cy="4145468"/>
          </a:xfrm>
          <a:custGeom>
            <a:avLst/>
            <a:gdLst/>
            <a:ahLst/>
            <a:cxnLst/>
            <a:rect l="l" t="t" r="r" b="b"/>
            <a:pathLst>
              <a:path w="7402622" h="4145468">
                <a:moveTo>
                  <a:pt x="0" y="0"/>
                </a:moveTo>
                <a:lnTo>
                  <a:pt x="7402622" y="0"/>
                </a:lnTo>
                <a:lnTo>
                  <a:pt x="7402622" y="4145468"/>
                </a:lnTo>
                <a:lnTo>
                  <a:pt x="0" y="4145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56788" y="1676444"/>
            <a:ext cx="9870874" cy="520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Entrenamiento YoloV5.</a:t>
            </a:r>
          </a:p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Diseño de Script Python para área detectada detalle.</a:t>
            </a:r>
          </a:p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Entrenamiento YoloV5.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974278" y="7051030"/>
            <a:ext cx="7739658" cy="2569982"/>
          </a:xfrm>
          <a:custGeom>
            <a:avLst/>
            <a:gdLst/>
            <a:ahLst/>
            <a:cxnLst/>
            <a:rect l="l" t="t" r="r" b="b"/>
            <a:pathLst>
              <a:path w="7739658" h="2569982">
                <a:moveTo>
                  <a:pt x="0" y="0"/>
                </a:moveTo>
                <a:lnTo>
                  <a:pt x="7739658" y="0"/>
                </a:lnTo>
                <a:lnTo>
                  <a:pt x="7739658" y="2569983"/>
                </a:lnTo>
                <a:lnTo>
                  <a:pt x="0" y="2569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Produccion - Iterarion 2 y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89680" y="398525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9953" y="1392270"/>
            <a:ext cx="9870874" cy="25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Script Python para CRNN.</a:t>
            </a:r>
          </a:p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Entrenamiento CRNN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3269521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870827" y="1327927"/>
            <a:ext cx="6571142" cy="2809163"/>
          </a:xfrm>
          <a:custGeom>
            <a:avLst/>
            <a:gdLst/>
            <a:ahLst/>
            <a:cxnLst/>
            <a:rect l="l" t="t" r="r" b="b"/>
            <a:pathLst>
              <a:path w="6571142" h="2809163">
                <a:moveTo>
                  <a:pt x="0" y="0"/>
                </a:moveTo>
                <a:lnTo>
                  <a:pt x="6571142" y="0"/>
                </a:lnTo>
                <a:lnTo>
                  <a:pt x="6571142" y="2809163"/>
                </a:lnTo>
                <a:lnTo>
                  <a:pt x="0" y="2809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3959" y="4012819"/>
            <a:ext cx="9930985" cy="2780676"/>
          </a:xfrm>
          <a:custGeom>
            <a:avLst/>
            <a:gdLst/>
            <a:ahLst/>
            <a:cxnLst/>
            <a:rect l="l" t="t" r="r" b="b"/>
            <a:pathLst>
              <a:path w="9930985" h="2780676">
                <a:moveTo>
                  <a:pt x="0" y="0"/>
                </a:moveTo>
                <a:lnTo>
                  <a:pt x="9930985" y="0"/>
                </a:lnTo>
                <a:lnTo>
                  <a:pt x="9930985" y="2780676"/>
                </a:lnTo>
                <a:lnTo>
                  <a:pt x="0" y="2780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3959" y="7116031"/>
            <a:ext cx="11301259" cy="2867694"/>
          </a:xfrm>
          <a:custGeom>
            <a:avLst/>
            <a:gdLst/>
            <a:ahLst/>
            <a:cxnLst/>
            <a:rect l="l" t="t" r="r" b="b"/>
            <a:pathLst>
              <a:path w="11301259" h="2867694">
                <a:moveTo>
                  <a:pt x="0" y="0"/>
                </a:moveTo>
                <a:lnTo>
                  <a:pt x="11301259" y="0"/>
                </a:lnTo>
                <a:lnTo>
                  <a:pt x="11301259" y="2867694"/>
                </a:lnTo>
                <a:lnTo>
                  <a:pt x="0" y="2867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483363" y="4012819"/>
            <a:ext cx="9804637" cy="5245481"/>
          </a:xfrm>
          <a:custGeom>
            <a:avLst/>
            <a:gdLst/>
            <a:ahLst/>
            <a:cxnLst/>
            <a:rect l="l" t="t" r="r" b="b"/>
            <a:pathLst>
              <a:path w="9804637" h="5245481">
                <a:moveTo>
                  <a:pt x="0" y="0"/>
                </a:moveTo>
                <a:lnTo>
                  <a:pt x="9804637" y="0"/>
                </a:lnTo>
                <a:lnTo>
                  <a:pt x="9804637" y="5245481"/>
                </a:lnTo>
                <a:lnTo>
                  <a:pt x="0" y="5245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Produccion - Iterarion 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09478" y="1392270"/>
            <a:ext cx="15664667" cy="653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Corrección Mediante Diccionario De Palabras En Python. SYMSPELL</a:t>
            </a:r>
          </a:p>
          <a:p>
            <a:pPr marL="1133663" lvl="1" indent="-566831" algn="l">
              <a:lnSpc>
                <a:spcPts val="10501"/>
              </a:lnSpc>
              <a:buFont typeface="Arial"/>
              <a:buChar char="•"/>
            </a:pPr>
            <a:r>
              <a:rPr lang="en-US" sz="525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Estructura De Notas Digitales Mediante Detección De Posiciones. lista bidimensional de pares</a:t>
            </a:r>
          </a:p>
        </p:txBody>
      </p:sp>
      <p:sp>
        <p:nvSpPr>
          <p:cNvPr id="9" name="Freeform 9"/>
          <p:cNvSpPr/>
          <p:nvPr/>
        </p:nvSpPr>
        <p:spPr>
          <a:xfrm>
            <a:off x="660244" y="4463698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 - Iterarion 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9953" y="1420845"/>
            <a:ext cx="16706637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9600"/>
              </a:lnSpc>
              <a:buFont typeface="Arial"/>
              <a:buChar char="•"/>
            </a:pPr>
            <a:r>
              <a:rPr lang="en-US" sz="48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Conversión modelos TFLITE 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68409" y="2788084"/>
            <a:ext cx="14874330" cy="6154254"/>
          </a:xfrm>
          <a:custGeom>
            <a:avLst/>
            <a:gdLst/>
            <a:ahLst/>
            <a:cxnLst/>
            <a:rect l="l" t="t" r="r" b="b"/>
            <a:pathLst>
              <a:path w="14874330" h="6154254">
                <a:moveTo>
                  <a:pt x="0" y="0"/>
                </a:moveTo>
                <a:lnTo>
                  <a:pt x="14874330" y="0"/>
                </a:lnTo>
                <a:lnTo>
                  <a:pt x="14874330" y="6154254"/>
                </a:lnTo>
                <a:lnTo>
                  <a:pt x="0" y="6154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Producción- Iterarion 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9953" y="1420845"/>
            <a:ext cx="16706637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9600"/>
              </a:lnSpc>
              <a:buFont typeface="Arial"/>
              <a:buChar char="•"/>
            </a:pPr>
            <a:r>
              <a:rPr lang="en-US" sz="48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Conversión modelos TFLITE 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2523840"/>
            <a:ext cx="7429275" cy="6602768"/>
          </a:xfrm>
          <a:custGeom>
            <a:avLst/>
            <a:gdLst/>
            <a:ahLst/>
            <a:cxnLst/>
            <a:rect l="l" t="t" r="r" b="b"/>
            <a:pathLst>
              <a:path w="7429275" h="6602768">
                <a:moveTo>
                  <a:pt x="0" y="0"/>
                </a:moveTo>
                <a:lnTo>
                  <a:pt x="7429275" y="0"/>
                </a:lnTo>
                <a:lnTo>
                  <a:pt x="7429275" y="6602768"/>
                </a:lnTo>
                <a:lnTo>
                  <a:pt x="0" y="6602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890521" y="2523840"/>
            <a:ext cx="8068808" cy="6602768"/>
          </a:xfrm>
          <a:custGeom>
            <a:avLst/>
            <a:gdLst/>
            <a:ahLst/>
            <a:cxnLst/>
            <a:rect l="l" t="t" r="r" b="b"/>
            <a:pathLst>
              <a:path w="8068808" h="6602768">
                <a:moveTo>
                  <a:pt x="0" y="0"/>
                </a:moveTo>
                <a:lnTo>
                  <a:pt x="8068807" y="0"/>
                </a:lnTo>
                <a:lnTo>
                  <a:pt x="8068807" y="6602768"/>
                </a:lnTo>
                <a:lnTo>
                  <a:pt x="0" y="6602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25" r="-5762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 - Iterarion 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9953" y="1420845"/>
            <a:ext cx="16706637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9600"/>
              </a:lnSpc>
              <a:buFont typeface="Arial"/>
              <a:buChar char="•"/>
            </a:pPr>
            <a:r>
              <a:rPr lang="en-US" sz="48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Conversión modelo a TorchScript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68409" y="2717640"/>
            <a:ext cx="8206913" cy="2133797"/>
          </a:xfrm>
          <a:custGeom>
            <a:avLst/>
            <a:gdLst/>
            <a:ahLst/>
            <a:cxnLst/>
            <a:rect l="l" t="t" r="r" b="b"/>
            <a:pathLst>
              <a:path w="8206913" h="2133797">
                <a:moveTo>
                  <a:pt x="0" y="0"/>
                </a:moveTo>
                <a:lnTo>
                  <a:pt x="8206913" y="0"/>
                </a:lnTo>
                <a:lnTo>
                  <a:pt x="8206913" y="2133797"/>
                </a:lnTo>
                <a:lnTo>
                  <a:pt x="0" y="213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0086" y="5050566"/>
            <a:ext cx="8023559" cy="4207734"/>
          </a:xfrm>
          <a:custGeom>
            <a:avLst/>
            <a:gdLst/>
            <a:ahLst/>
            <a:cxnLst/>
            <a:rect l="l" t="t" r="r" b="b"/>
            <a:pathLst>
              <a:path w="8023559" h="4207734">
                <a:moveTo>
                  <a:pt x="0" y="0"/>
                </a:moveTo>
                <a:lnTo>
                  <a:pt x="8023559" y="0"/>
                </a:lnTo>
                <a:lnTo>
                  <a:pt x="8023559" y="4207734"/>
                </a:lnTo>
                <a:lnTo>
                  <a:pt x="0" y="4207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702" b="-4742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106441" y="2717640"/>
            <a:ext cx="6558179" cy="6234948"/>
          </a:xfrm>
          <a:custGeom>
            <a:avLst/>
            <a:gdLst/>
            <a:ahLst/>
            <a:cxnLst/>
            <a:rect l="l" t="t" r="r" b="b"/>
            <a:pathLst>
              <a:path w="6558179" h="6234948">
                <a:moveTo>
                  <a:pt x="0" y="0"/>
                </a:moveTo>
                <a:lnTo>
                  <a:pt x="6558179" y="0"/>
                </a:lnTo>
                <a:lnTo>
                  <a:pt x="6558179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 - Iterarion 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9953" y="1420845"/>
            <a:ext cx="16706637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9600"/>
              </a:lnSpc>
              <a:buFont typeface="Arial"/>
              <a:buChar char="•"/>
            </a:pPr>
            <a:r>
              <a:rPr lang="en-US" sz="48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Diseño Fronted De La Aplicación.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7681" y="2802575"/>
            <a:ext cx="7775591" cy="6176991"/>
          </a:xfrm>
          <a:custGeom>
            <a:avLst/>
            <a:gdLst/>
            <a:ahLst/>
            <a:cxnLst/>
            <a:rect l="l" t="t" r="r" b="b"/>
            <a:pathLst>
              <a:path w="7775591" h="6176991">
                <a:moveTo>
                  <a:pt x="0" y="0"/>
                </a:moveTo>
                <a:lnTo>
                  <a:pt x="7775591" y="0"/>
                </a:lnTo>
                <a:lnTo>
                  <a:pt x="7775591" y="6176991"/>
                </a:lnTo>
                <a:lnTo>
                  <a:pt x="0" y="617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889492" y="2852544"/>
            <a:ext cx="3271422" cy="6077053"/>
          </a:xfrm>
          <a:custGeom>
            <a:avLst/>
            <a:gdLst/>
            <a:ahLst/>
            <a:cxnLst/>
            <a:rect l="l" t="t" r="r" b="b"/>
            <a:pathLst>
              <a:path w="3271422" h="6077053">
                <a:moveTo>
                  <a:pt x="0" y="0"/>
                </a:moveTo>
                <a:lnTo>
                  <a:pt x="3271422" y="0"/>
                </a:lnTo>
                <a:lnTo>
                  <a:pt x="3271422" y="6077053"/>
                </a:lnTo>
                <a:lnTo>
                  <a:pt x="0" y="6077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813" b="-981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580344" y="2802575"/>
            <a:ext cx="3084276" cy="6356958"/>
          </a:xfrm>
          <a:custGeom>
            <a:avLst/>
            <a:gdLst/>
            <a:ahLst/>
            <a:cxnLst/>
            <a:rect l="l" t="t" r="r" b="b"/>
            <a:pathLst>
              <a:path w="3084276" h="6356958">
                <a:moveTo>
                  <a:pt x="0" y="0"/>
                </a:moveTo>
                <a:lnTo>
                  <a:pt x="3084276" y="0"/>
                </a:lnTo>
                <a:lnTo>
                  <a:pt x="308427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909" b="-390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 - Iterarion 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7078" y="1420845"/>
            <a:ext cx="17601217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9600"/>
              </a:lnSpc>
              <a:buFont typeface="Arial"/>
              <a:buChar char="•"/>
            </a:pPr>
            <a:r>
              <a:rPr lang="en-US" sz="48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Implementación Funcional e Integración de Componentes.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2735845"/>
            <a:ext cx="7645435" cy="6748484"/>
          </a:xfrm>
          <a:custGeom>
            <a:avLst/>
            <a:gdLst/>
            <a:ahLst/>
            <a:cxnLst/>
            <a:rect l="l" t="t" r="r" b="b"/>
            <a:pathLst>
              <a:path w="7645435" h="6748484">
                <a:moveTo>
                  <a:pt x="0" y="0"/>
                </a:moveTo>
                <a:lnTo>
                  <a:pt x="7645435" y="0"/>
                </a:lnTo>
                <a:lnTo>
                  <a:pt x="7645435" y="6748485"/>
                </a:lnTo>
                <a:lnTo>
                  <a:pt x="0" y="6748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73271" y="2735845"/>
            <a:ext cx="7491349" cy="7247880"/>
          </a:xfrm>
          <a:custGeom>
            <a:avLst/>
            <a:gdLst/>
            <a:ahLst/>
            <a:cxnLst/>
            <a:rect l="l" t="t" r="r" b="b"/>
            <a:pathLst>
              <a:path w="7491349" h="7247880">
                <a:moveTo>
                  <a:pt x="0" y="0"/>
                </a:moveTo>
                <a:lnTo>
                  <a:pt x="7491349" y="0"/>
                </a:lnTo>
                <a:lnTo>
                  <a:pt x="7491349" y="7247880"/>
                </a:lnTo>
                <a:lnTo>
                  <a:pt x="0" y="724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 - Iterarion 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7078" y="1420845"/>
            <a:ext cx="17601217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9600"/>
              </a:lnSpc>
              <a:buFont typeface="Arial"/>
              <a:buChar char="•"/>
            </a:pPr>
            <a:r>
              <a:rPr lang="en-US" sz="48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Implementación Funcional e Integración de Componentes.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1497" y="2990565"/>
            <a:ext cx="9069145" cy="5422968"/>
          </a:xfrm>
          <a:custGeom>
            <a:avLst/>
            <a:gdLst/>
            <a:ahLst/>
            <a:cxnLst/>
            <a:rect l="l" t="t" r="r" b="b"/>
            <a:pathLst>
              <a:path w="9069145" h="5422968">
                <a:moveTo>
                  <a:pt x="0" y="0"/>
                </a:moveTo>
                <a:lnTo>
                  <a:pt x="9069145" y="0"/>
                </a:lnTo>
                <a:lnTo>
                  <a:pt x="9069145" y="5422969"/>
                </a:lnTo>
                <a:lnTo>
                  <a:pt x="0" y="5422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1781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105235" y="2707326"/>
            <a:ext cx="7154065" cy="7475223"/>
          </a:xfrm>
          <a:custGeom>
            <a:avLst/>
            <a:gdLst/>
            <a:ahLst/>
            <a:cxnLst/>
            <a:rect l="l" t="t" r="r" b="b"/>
            <a:pathLst>
              <a:path w="7154065" h="7475223">
                <a:moveTo>
                  <a:pt x="0" y="0"/>
                </a:moveTo>
                <a:lnTo>
                  <a:pt x="7154065" y="0"/>
                </a:lnTo>
                <a:lnTo>
                  <a:pt x="7154065" y="7475223"/>
                </a:lnTo>
                <a:lnTo>
                  <a:pt x="0" y="7475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Producción - Iterarion 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89399" y="1792320"/>
            <a:ext cx="12667534" cy="6017079"/>
          </a:xfrm>
          <a:custGeom>
            <a:avLst/>
            <a:gdLst/>
            <a:ahLst/>
            <a:cxnLst/>
            <a:rect l="l" t="t" r="r" b="b"/>
            <a:pathLst>
              <a:path w="12667534" h="6017079">
                <a:moveTo>
                  <a:pt x="0" y="0"/>
                </a:moveTo>
                <a:lnTo>
                  <a:pt x="12667534" y="0"/>
                </a:lnTo>
                <a:lnTo>
                  <a:pt x="12667534" y="6017079"/>
                </a:lnTo>
                <a:lnTo>
                  <a:pt x="0" y="6017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1497" y="4400598"/>
            <a:ext cx="7471076" cy="5220415"/>
          </a:xfrm>
          <a:custGeom>
            <a:avLst/>
            <a:gdLst/>
            <a:ahLst/>
            <a:cxnLst/>
            <a:rect l="l" t="t" r="r" b="b"/>
            <a:pathLst>
              <a:path w="7471076" h="5220415">
                <a:moveTo>
                  <a:pt x="0" y="0"/>
                </a:moveTo>
                <a:lnTo>
                  <a:pt x="7471076" y="0"/>
                </a:lnTo>
                <a:lnTo>
                  <a:pt x="7471076" y="5220415"/>
                </a:lnTo>
                <a:lnTo>
                  <a:pt x="0" y="5220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Fase de Estabilizacion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6529" y="7291834"/>
            <a:ext cx="6914943" cy="814121"/>
            <a:chOff x="0" y="0"/>
            <a:chExt cx="1821220" cy="21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34264" y="2438223"/>
            <a:ext cx="11619472" cy="467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20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EVALUACION Y RESULTADOS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8371" y="7383617"/>
            <a:ext cx="533125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spc="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CAPITULO IV</a:t>
            </a:r>
          </a:p>
        </p:txBody>
      </p:sp>
      <p:sp>
        <p:nvSpPr>
          <p:cNvPr id="8" name="Freeform 8"/>
          <p:cNvSpPr/>
          <p:nvPr/>
        </p:nvSpPr>
        <p:spPr>
          <a:xfrm>
            <a:off x="1271595" y="1470063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8" y="0"/>
                </a:lnTo>
                <a:lnTo>
                  <a:pt x="1052408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2931" y="1451391"/>
            <a:ext cx="7258181" cy="716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480" lvl="1" indent="-311240" algn="l">
              <a:lnSpc>
                <a:spcPts val="5766"/>
              </a:lnSpc>
              <a:buFont typeface="Arial"/>
              <a:buChar char="•"/>
            </a:pPr>
            <a:r>
              <a:rPr lang="en-US" sz="2883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H0: La aplicación móvil basada en Deep Learning y HTR no logra una precisión superior al 70% en la digitalización de notas de venta manuscritas para pequeños comerciantes.</a:t>
            </a:r>
          </a:p>
          <a:p>
            <a:pPr marL="622480" lvl="1" indent="-311240" algn="l">
              <a:lnSpc>
                <a:spcPts val="5766"/>
              </a:lnSpc>
              <a:buFont typeface="Arial"/>
              <a:buChar char="•"/>
            </a:pPr>
            <a:r>
              <a:rPr lang="en-US" sz="2883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H1: La aplicación móvil basada en Deep Learning y HTR logra una precisión superior al 70% en la digitalización de notas de venta manuscritas para pequeños comerciantes.</a:t>
            </a:r>
          </a:p>
        </p:txBody>
      </p:sp>
      <p:sp>
        <p:nvSpPr>
          <p:cNvPr id="9" name="Freeform 9"/>
          <p:cNvSpPr/>
          <p:nvPr/>
        </p:nvSpPr>
        <p:spPr>
          <a:xfrm>
            <a:off x="7591113" y="1327927"/>
            <a:ext cx="10696887" cy="7808728"/>
          </a:xfrm>
          <a:custGeom>
            <a:avLst/>
            <a:gdLst/>
            <a:ahLst/>
            <a:cxnLst/>
            <a:rect l="l" t="t" r="r" b="b"/>
            <a:pathLst>
              <a:path w="10696887" h="7808728">
                <a:moveTo>
                  <a:pt x="0" y="0"/>
                </a:moveTo>
                <a:lnTo>
                  <a:pt x="10696887" y="0"/>
                </a:lnTo>
                <a:lnTo>
                  <a:pt x="10696887" y="7808728"/>
                </a:lnTo>
                <a:lnTo>
                  <a:pt x="0" y="7808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Matriz de confusion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9953" y="1516095"/>
            <a:ext cx="16706637" cy="173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6" lvl="1" indent="-388623" algn="l">
              <a:lnSpc>
                <a:spcPts val="7200"/>
              </a:lnSpc>
              <a:buFont typeface="Arial"/>
              <a:buChar char="•"/>
            </a:pPr>
            <a:r>
              <a:rPr lang="en-US" sz="36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Cálculo del Chi-Cuadrado de Bondad de Ajuste</a:t>
            </a:r>
          </a:p>
          <a:p>
            <a:pPr marL="777246" lvl="1" indent="-388623" algn="l">
              <a:lnSpc>
                <a:spcPts val="7200"/>
              </a:lnSpc>
              <a:buFont typeface="Arial"/>
              <a:buChar char="•"/>
            </a:pPr>
            <a:r>
              <a:rPr lang="en-US" sz="3600">
                <a:solidFill>
                  <a:srgbClr val="696D76"/>
                </a:solidFill>
                <a:latin typeface="DM Sans"/>
                <a:ea typeface="DM Sans"/>
                <a:cs typeface="DM Sans"/>
                <a:sym typeface="DM Sans"/>
              </a:rPr>
              <a:t>χ2 valor calculado=185,645477   &gt;  χ2 valor critico 75,6893</a:t>
            </a:r>
          </a:p>
        </p:txBody>
      </p:sp>
      <p:sp>
        <p:nvSpPr>
          <p:cNvPr id="9" name="Freeform 9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33651" y="3366560"/>
            <a:ext cx="12210861" cy="5891740"/>
          </a:xfrm>
          <a:custGeom>
            <a:avLst/>
            <a:gdLst/>
            <a:ahLst/>
            <a:cxnLst/>
            <a:rect l="l" t="t" r="r" b="b"/>
            <a:pathLst>
              <a:path w="12210861" h="5891740">
                <a:moveTo>
                  <a:pt x="0" y="0"/>
                </a:moveTo>
                <a:lnTo>
                  <a:pt x="12210860" y="0"/>
                </a:lnTo>
                <a:lnTo>
                  <a:pt x="12210860" y="5891740"/>
                </a:lnTo>
                <a:lnTo>
                  <a:pt x="0" y="5891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Chi-Cuadrado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23562" y="1561838"/>
            <a:ext cx="5579110" cy="1638053"/>
          </a:xfrm>
          <a:custGeom>
            <a:avLst/>
            <a:gdLst/>
            <a:ahLst/>
            <a:cxnLst/>
            <a:rect l="l" t="t" r="r" b="b"/>
            <a:pathLst>
              <a:path w="5579110" h="1638053">
                <a:moveTo>
                  <a:pt x="0" y="0"/>
                </a:moveTo>
                <a:lnTo>
                  <a:pt x="5579110" y="0"/>
                </a:lnTo>
                <a:lnTo>
                  <a:pt x="5579110" y="1638053"/>
                </a:lnTo>
                <a:lnTo>
                  <a:pt x="0" y="1638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889678" y="1792320"/>
            <a:ext cx="8713532" cy="1407571"/>
          </a:xfrm>
          <a:custGeom>
            <a:avLst/>
            <a:gdLst/>
            <a:ahLst/>
            <a:cxnLst/>
            <a:rect l="l" t="t" r="r" b="b"/>
            <a:pathLst>
              <a:path w="8713532" h="1407571">
                <a:moveTo>
                  <a:pt x="0" y="0"/>
                </a:moveTo>
                <a:lnTo>
                  <a:pt x="8713533" y="0"/>
                </a:lnTo>
                <a:lnTo>
                  <a:pt x="8713533" y="1407571"/>
                </a:lnTo>
                <a:lnTo>
                  <a:pt x="0" y="1407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72329" y="3199891"/>
            <a:ext cx="10640637" cy="1297211"/>
          </a:xfrm>
          <a:custGeom>
            <a:avLst/>
            <a:gdLst/>
            <a:ahLst/>
            <a:cxnLst/>
            <a:rect l="l" t="t" r="r" b="b"/>
            <a:pathLst>
              <a:path w="10640637" h="1297211">
                <a:moveTo>
                  <a:pt x="0" y="0"/>
                </a:moveTo>
                <a:lnTo>
                  <a:pt x="10640637" y="0"/>
                </a:lnTo>
                <a:lnTo>
                  <a:pt x="10640637" y="1297211"/>
                </a:lnTo>
                <a:lnTo>
                  <a:pt x="0" y="1297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171746" y="4771390"/>
            <a:ext cx="5980419" cy="4212622"/>
          </a:xfrm>
          <a:custGeom>
            <a:avLst/>
            <a:gdLst/>
            <a:ahLst/>
            <a:cxnLst/>
            <a:rect l="l" t="t" r="r" b="b"/>
            <a:pathLst>
              <a:path w="5980419" h="4212622">
                <a:moveTo>
                  <a:pt x="0" y="0"/>
                </a:moveTo>
                <a:lnTo>
                  <a:pt x="5980420" y="0"/>
                </a:lnTo>
                <a:lnTo>
                  <a:pt x="5980420" y="4212622"/>
                </a:lnTo>
                <a:lnTo>
                  <a:pt x="0" y="4212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498" t="-15317" r="-9636" b="-991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7078" y="398525"/>
            <a:ext cx="14830147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Cálculo del Coeficiente Kappa de Cohen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56602" y="2029000"/>
            <a:ext cx="12844652" cy="5702419"/>
          </a:xfrm>
          <a:custGeom>
            <a:avLst/>
            <a:gdLst/>
            <a:ahLst/>
            <a:cxnLst/>
            <a:rect l="l" t="t" r="r" b="b"/>
            <a:pathLst>
              <a:path w="12844652" h="5702419">
                <a:moveTo>
                  <a:pt x="0" y="0"/>
                </a:moveTo>
                <a:lnTo>
                  <a:pt x="12844652" y="0"/>
                </a:lnTo>
                <a:lnTo>
                  <a:pt x="12844652" y="5702420"/>
                </a:lnTo>
                <a:lnTo>
                  <a:pt x="0" y="5702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11" t="-4150" r="-7581" b="-201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Comparacion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04677" y="-2237822"/>
            <a:ext cx="22035035" cy="3565748"/>
            <a:chOff x="0" y="0"/>
            <a:chExt cx="5803466" cy="939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31497" y="1792320"/>
            <a:ext cx="736912" cy="679802"/>
          </a:xfrm>
          <a:custGeom>
            <a:avLst/>
            <a:gdLst/>
            <a:ahLst/>
            <a:cxnLst/>
            <a:rect l="l" t="t" r="r" b="b"/>
            <a:pathLst>
              <a:path w="736912" h="679802">
                <a:moveTo>
                  <a:pt x="0" y="0"/>
                </a:moveTo>
                <a:lnTo>
                  <a:pt x="736912" y="0"/>
                </a:lnTo>
                <a:lnTo>
                  <a:pt x="736912" y="679802"/>
                </a:lnTo>
                <a:lnTo>
                  <a:pt x="0" y="67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5210" y="2132221"/>
            <a:ext cx="15358737" cy="5433153"/>
          </a:xfrm>
          <a:custGeom>
            <a:avLst/>
            <a:gdLst/>
            <a:ahLst/>
            <a:cxnLst/>
            <a:rect l="l" t="t" r="r" b="b"/>
            <a:pathLst>
              <a:path w="15358737" h="5433153">
                <a:moveTo>
                  <a:pt x="0" y="0"/>
                </a:moveTo>
                <a:lnTo>
                  <a:pt x="15358737" y="0"/>
                </a:lnTo>
                <a:lnTo>
                  <a:pt x="15358737" y="5433153"/>
                </a:lnTo>
                <a:lnTo>
                  <a:pt x="0" y="5433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7078" y="398525"/>
            <a:ext cx="12723836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Comparacion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41240" y="9353550"/>
            <a:ext cx="3246760" cy="63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8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Mobile-D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6529" y="5681516"/>
            <a:ext cx="6914943" cy="814121"/>
            <a:chOff x="0" y="0"/>
            <a:chExt cx="1821220" cy="21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00311" y="3539490"/>
            <a:ext cx="13287379" cy="160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20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CONCLUSIONES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8371" y="5773299"/>
            <a:ext cx="533125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spc="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------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86529" y="5681516"/>
            <a:ext cx="6914943" cy="814121"/>
            <a:chOff x="0" y="0"/>
            <a:chExt cx="1821220" cy="21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69234" y="8449152"/>
            <a:ext cx="1052409" cy="263102"/>
          </a:xfrm>
          <a:custGeom>
            <a:avLst/>
            <a:gdLst/>
            <a:ahLst/>
            <a:cxnLst/>
            <a:rect l="l" t="t" r="r" b="b"/>
            <a:pathLst>
              <a:path w="1052409" h="263102">
                <a:moveTo>
                  <a:pt x="0" y="0"/>
                </a:moveTo>
                <a:lnTo>
                  <a:pt x="1052409" y="0"/>
                </a:lnTo>
                <a:lnTo>
                  <a:pt x="105240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3008" y="3534581"/>
            <a:ext cx="16601984" cy="160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2000" b="1">
                <a:solidFill>
                  <a:srgbClr val="0C1D4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MUCHAS GRACIAS!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8371" y="5773299"/>
            <a:ext cx="533125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spc="7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Por su atención.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127839" y="9258300"/>
            <a:ext cx="22035035" cy="3565748"/>
            <a:chOff x="0" y="0"/>
            <a:chExt cx="5803466" cy="9391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03466" cy="939127"/>
            </a:xfrm>
            <a:custGeom>
              <a:avLst/>
              <a:gdLst/>
              <a:ahLst/>
              <a:cxnLst/>
              <a:rect l="l" t="t" r="r" b="b"/>
              <a:pathLst>
                <a:path w="5803466" h="939127">
                  <a:moveTo>
                    <a:pt x="0" y="0"/>
                  </a:moveTo>
                  <a:lnTo>
                    <a:pt x="5803466" y="0"/>
                  </a:lnTo>
                  <a:lnTo>
                    <a:pt x="5803466" y="939127"/>
                  </a:lnTo>
                  <a:lnTo>
                    <a:pt x="0" y="939127"/>
                  </a:lnTo>
                  <a:close/>
                </a:path>
              </a:pathLst>
            </a:custGeom>
            <a:solidFill>
              <a:srgbClr val="3C4F7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803466" cy="986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559</Words>
  <Application>Microsoft Office PowerPoint</Application>
  <PresentationFormat>Personalizado</PresentationFormat>
  <Paragraphs>140</Paragraphs>
  <Slides>33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3" baseType="lpstr">
      <vt:lpstr>DM Sans</vt:lpstr>
      <vt:lpstr>Montserrat Bold</vt:lpstr>
      <vt:lpstr>Open Sans</vt:lpstr>
      <vt:lpstr>Alice Bold</vt:lpstr>
      <vt:lpstr>Calibri</vt:lpstr>
      <vt:lpstr>Arial</vt:lpstr>
      <vt:lpstr>Montserrat Heavy</vt:lpstr>
      <vt:lpstr>DM Sans Bold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Diapositivas Tesis</dc:title>
  <cp:lastModifiedBy>_AnTrAx_</cp:lastModifiedBy>
  <cp:revision>3</cp:revision>
  <dcterms:created xsi:type="dcterms:W3CDTF">2006-08-16T00:00:00Z</dcterms:created>
  <dcterms:modified xsi:type="dcterms:W3CDTF">2025-06-23T00:11:12Z</dcterms:modified>
  <dc:identifier>DAGol0FQF9M</dc:identifier>
</cp:coreProperties>
</file>